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 сразу: определение проекта, признаки, треугольник — уже даны. Сегодня используем, не повторяем.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Короткая остановка: одна-две команды называют свои два концепта вслух, без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Подстановочный тест: если предложение годится для чужого проекта без изменений — оно не написано.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намеренно пустая. Порядок: «для кого» и «в отличие от чего» первыми — они задают рамку; «что делаем» и «выгода» последними. Записывать ровно то, что говорит зал, и править на глазах.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Ходить между командами. Не отвечать за них — только спрашивать.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Заготовки читать вслух целиком — студенты подставляют своё прямо в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Проигравший концепт не выбрасывается — пойдёт в паспорт проекта как альтернатива.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SMART как основной термин, ЧИСТО — как альтернатива для запоминания, не вместо.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новый инструмент: тот же треугольник и та же ресурсная граница из вводной лекции, применённые к своей цели.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Правый столбец пустой намеренно. На каждую строку — вопрос в зал. Число в букве M обязательно, даже приблизительное.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Показывать только ПОСЛЕ разбора на доске — это сверка, а не подсказка. Ровно такой объём ждём от каждой команды на листе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сокращать. Единственный блок, дающий итоговый артефакт занятия.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минуты на поиск, две на устный разбор в паре.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Продиктовать и убедиться, что записали.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7830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двух концептов к SMART-цели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8346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Инициация технологического стартапа и SMART-цели · Генерация идеи, формулировка цели по SMART, определение ценностного предложения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сентября 2026 · продолжение вводной лекции 05.09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 ОТ ДОМАШНЕГО ЗАДАНИЯ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вас уже есть два концепта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дано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— технический проект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Б — социальный проект («Обучение служением»)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хорошей идеи: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 · реализуемость ·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измеримость · новизна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81728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56048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 сегодня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56048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Ценностное предложение для обоих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Выбор одного по 4 критериям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SMART-цель для выбранного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Проверка соседней командой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0233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 пары — два документа по ОДНОМУ выбранному концепту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ИНСТРУМЕНТ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Ценностное предложение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1051560"/>
          </a:xfrm>
          <a:prstGeom prst="roundRect">
            <a:avLst>
              <a:gd name="adj" fmla="val 4348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207008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Определение. Ценностное предложение — короткое проверяемое утверждение о том, какую конкретную выгоду и для какой конкретной группы людей создаёт результат проекта и чем предложенный способ лучше того, которым эта задача решается сейчас.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1284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части — заполняются все четыре, иначе утверждение нечем проверить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8138160" cy="475488"/>
          </a:xfrm>
          <a:prstGeom prst="roundRect">
            <a:avLst>
              <a:gd name="adj" fmla="val 9615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56032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25328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53288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Узкая группа людей, а не «все студенты»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035808"/>
            <a:ext cx="8138160" cy="475488"/>
          </a:xfrm>
          <a:prstGeom prst="roundRect">
            <a:avLst>
              <a:gd name="adj" fmla="val 9615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10896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30815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08152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продукт, инструмент или изменение мы создаём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584448"/>
            <a:ext cx="8138160" cy="475488"/>
          </a:xfrm>
          <a:prstGeom prst="roundRect">
            <a:avLst>
              <a:gd name="adj" fmla="val 9615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65760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выгоду даёт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363016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станет лучше и по какому признаку это видно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133088"/>
            <a:ext cx="8138160" cy="475488"/>
          </a:xfrm>
          <a:prstGeom prst="roundRect">
            <a:avLst>
              <a:gd name="adj" fmla="val 9615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20624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69848" y="417880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отличие от чего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417880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задача решается сейчас без нас — и почему это хуже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ОТ ПРЕПОДАВАТЕЛЯ · ЗАПОЛНЯЕМ ВМЕСТЕ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Слоган — это ещё не предложение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А: умный горшок для растений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138160" cy="749808"/>
          </a:xfrm>
          <a:prstGeom prst="roundRect">
            <a:avLst>
              <a:gd name="adj" fmla="val 6098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35331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«Сделать умный горшок для растений»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68249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слова. Кто именно, что за горшок, какая выгода, по сравнению с чем — не сказано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760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Строка формулы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Пишем на доске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Для кого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делаем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Какую выгоду даёт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отличие от чего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4160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Заполняем строку за строкой — вопросом в зал, а не готовым ответом.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1 · 12 МИНУТ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Заполните формулу для ОБОИХ концептов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и Вектор Б — оба, не один. Следующий шаг — выбор, и выбирать не из чего, если заполнен только один.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8138160" cy="1645920"/>
          </a:xfrm>
          <a:prstGeom prst="roundRect">
            <a:avLst>
              <a:gd name="adj" fmla="val 2778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Для кого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делаем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Выгода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отличие от чего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На каждое «удобнее» и «лучше» — вопрос: насколько, в чём измеряется.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· ЧАСТЬ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критерия: что писать в строке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241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те же, что я называл на вводной лекции. Сегодня они впервые работают как инструмент выбора, а не как список.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126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Критерий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Заготовка фразы — дописать своими словами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Актуальность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Проблема есть у [кто именно], возникает [как часто] и стоит им [время / деньги / риск]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Реализуемость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 один семестр силами 3–4 человек; нужно [что именно], и это [есть / надо искать / нет]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Измеримость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Успех — это [величина] [в каких единицах], измеряем [чем или как] [когда]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Новизна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Похожие решения: [какие]. Мы отличаемся [чем: техникой, методикой или аудиторией]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2245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Одна строка обоснования на критерий. Балл без строки не ставится.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· ЧАСТЬ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ставить баллы: шкала 0–2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2237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Балл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это значит — одинаково для всех четырёх критериев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Ответить нечем: ни людей назвать, ни числа, ни отличия — только общие слова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 есть, но без конкретики: знаем «что», не знаем «кто», «сколько» или «чем измерить»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 конкретный и проверяемый: можно назвать людей, число, способ измерения, отличие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657600"/>
            <a:ext cx="8138160" cy="914400"/>
          </a:xfrm>
          <a:prstGeom prst="roundRect">
            <a:avLst>
              <a:gd name="adj" fmla="val 5000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803904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Максимум 8 баллов. Выбираем концепт с большей суммой.   ·   Равенство — решает капитан.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Жёсткое правило: концепт с нулём по «реализуемости» не выбирается, даже если сумма больше.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 ФОРМУЛИРОВКИ ЦЕЛИ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формулируется по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07008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1284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· Measurable · Achievable · Relevant · Time-bound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5420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Международный термин: встретится в заявках на гранты, в техзаданиях и в резюме. Знать нужно именно его.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17520"/>
            <a:ext cx="8138160" cy="1325880"/>
          </a:xfrm>
          <a:prstGeom prst="roundRect">
            <a:avLst>
              <a:gd name="adj" fmla="val 3448"/>
            </a:avLst>
          </a:prstGeom>
          <a:solidFill>
            <a:srgbClr val="2C567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1546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Запасной вариант для памяти — ЧИСТО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7472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пять проверок русскими словами: Чёткая · Измеримая · Со сроком · Толковая · Осуществимая. Порядок букв другой — это не важно, важно, что сделаны все пять.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ИНСТРУМЕНТ, НЕ ПОВТОР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проверяет каждая буква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11480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проверяет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ЧИСТО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— Specific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Образ результата, а не процесс: что именно должно появиться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 — Чёткая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— Measurable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Проверяется числом, а не словом «хорошо»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 — Измеримая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Achievable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Ресурсный лимит: реально силами 3–4 человек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 — Осуществимая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— Relevant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Решает проблему из ценностного предложения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 — Толковая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— Time-bound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Конкретная дата: чекпоинт 21.11 или защита 26.12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— Со сроком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160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Оба столбца про одно и то же. Пишем SMART, вспоминаем по ЧИСТО.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НА ДОСКЕ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числа не SMART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пример: умный горшок. Правый столбец дописываем вместе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017520"/>
                <a:gridCol w="3931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Буква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звучит наивно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Дописываем на доске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— 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«Сделать умный горшок»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— 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«Чтобы удобно было»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проверяется вовсе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— 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проверяется вовсе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— 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«В течение семестра»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160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Итоговая фраза собирается из правого столбца: «К [дата] мы получим [измеримый результат], проверяемый [способ проверки]»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ОБРАЗЕЦ · ТАК ЭТО ВЫГЛЯДИТ ЦЕЛИКОМ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Развёрнутая SMART-цель: умный горшок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60120"/>
          <a:ext cx="8138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3152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Буква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Развёрнутая формулировка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Прототип горшка со встроенным датчиком влажности почвы и световым индикатором «сухо / норма / перелив»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Индикатор совпадает с контрольным влагомером с точностью не хуже ±10 %, проверено не менее чем в 10 циклах полива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Команда 3–4 человека; нужны датчик влажности, микроконтроллер, светодиод — типовой доступный набор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Закрывает проблему из ценностного предложения: полив на глаз, без обратной связи от почвы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Рабочий прототип — к чекпоинту 21.11; три недели тестов и отчёт — к защите 26.12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950208"/>
            <a:ext cx="8138160" cy="713232"/>
          </a:xfrm>
          <a:prstGeom prst="roundRect">
            <a:avLst>
              <a:gd name="adj" fmla="val 6410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05993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 26 декабря мы представим прототип умного горшка с датчиком влажности и индикатором полива, проверенный три недели на живом растении с точностью показаний не хуже 10 %; рабочий прототип — к 21 ноября»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2 · 16 МИНУТ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Разверните свою SMART-цель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буква — отдельная строка, конкретно. Не общей фразой на весь акроним.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8138160" cy="2011680"/>
          </a:xfrm>
          <a:prstGeom prst="roundRect">
            <a:avLst>
              <a:gd name="adj" fmla="val 2273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945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 блока — одна фраза с датой: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 [дата] мы получим [измеримый результат], проверяемый [способ проверки]»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0690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Цель без даты или «в конце семестра» — не Time-bound. Нужно число.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МИНУТ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Соседняя команда ищет слабое место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8138160" cy="1554480"/>
          </a:xfrm>
          <a:prstGeom prst="roundRect">
            <a:avLst>
              <a:gd name="adj" fmla="val 294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Обменяйтесь листом 2. Найдите ОДНУ букву SMART, которая на самом деле не выполнена, и напишите почему.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слабое место в чужой цели — услуга, а не критика. В следующий раз то же самое сделают с вашей.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36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ПРАКТИКЕ 2 · 19 СЕНТЯБРЯ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17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41732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Финальную SMART-цель с учётом правок соседней команды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28600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Чистовик ценностного предложения выбранного концепта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Подумать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315468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ещё входит в команду проекта, кроме вашей четвёрки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— тот самый документ из вводной лекции про гранты РНФ и «УМНИК». Сегодняшние два листа — его первая половина.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1 — От двух концептов к SMART-цели</dc:title>
  <dc:subject>PptxGenJS Presentation</dc:subject>
  <dc:creator>PptxGenJS</dc:creator>
  <cp:lastModifiedBy>PptxGenJS</cp:lastModifiedBy>
  <cp:revision>1</cp:revision>
  <dcterms:created xsi:type="dcterms:W3CDTF">2026-09-12T14:03:01Z</dcterms:created>
  <dcterms:modified xsi:type="dcterms:W3CDTF">2026-09-12T14:03:01Z</dcterms:modified>
</cp:coreProperties>
</file>