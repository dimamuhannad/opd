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Заявить рамку сразу: сегодня не новая тема, сегодня разбор того, что вы уже сделали. И предупредить про окно замены проекта — это прозвучит в конце, но анонсировать стоит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показывается на каждом занятии. Смысл: студент всё время видит, сколько осталось и что именно он обязан предъявить на ближайшей вехе. Отсчёт называть вслух — это и есть встроенный тайм-менеджмент, без отдельной лекции про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смысл слайда: снять ощущение «нам дали упражнение». Они прошли реальную процедуру.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Связать с вводной лекцией: это разворот первой из пяти фаз жизненного цикла. Пункт 8 отдельно подчеркнуть — он вернётся на слайде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источник разобрать честно: «сделаем на микроконтроллере» — это ещё не проект, пока не найден носитель проблемы.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же ответ на вопрос «а зачем нам социальный вектор, если мы технари» — вектор Б существует, чтобы было из чего выбирать.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Четвёртый пункт — границы объёма. Про него забывают всегда, а именно он спасает семестр.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ответ на немой вопрос «зачем нам эта формула». Функция, а не форма.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проверки продиктовать — их студенты применяют сами, без преподавателя.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Остановка 3 минуты. Ничего не спрашивать вслух — смысл в честности перед собой, а не в публичном признании.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пункт проговорить медленно: студенты не привыкли к мысли, что критерий оценки пишут они 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частая системная ошибка первого курса — SMART на процесс. Разобрать медленно.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Остановка 2 минуты. Дальше сразу переход к смежным проблемам — не давать растечься.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мост к слайду 14. Сказать прямо: я не уговариваю менять — я говорю, что окно ещё открыто.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занятия. Держать паузу после него. Сказать, что решение о замене принимается командой и сообщается вам до 26.09 — письмом или лично.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пункт — 60 секунд про «что не сходится» — самый ценный. Сказать прямо: команда, которая честно назовёт свою дыру, получит больше, чем команда, которая сделает вид, что всё гладко.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3716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ЗАНЯТИЕ 3 · ПЕРВАЯ ПОЛОВИНА ПАРЫ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9164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Инициация проекта: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боевой ситуации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200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делали руками на прошлой паре, как это называется, где это обычно ломается — и что у вас есть ещё одна неделя, чтобы всё поменять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891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сентября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МЫ И СКОЛЬКО ОСТАЛОСЬ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Дорожная карта курса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1E4270"/>
          </a:solidFill>
          <a:ln w="6350">
            <a:solidFill>
              <a:srgbClr val="1E42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фиксации темы — 7 дней   ·   до чекпоинта 21.11 — 9 недель   ·   до защиты 26.12 — 14 недель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938528"/>
            <a:ext cx="7863840" cy="32004"/>
          </a:xfrm>
          <a:prstGeom prst="rect">
            <a:avLst/>
          </a:prstGeom>
          <a:solidFill>
            <a:srgbClr val="D8DE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83030" y="1828800"/>
            <a:ext cx="164592" cy="164592"/>
          </a:xfrm>
          <a:prstGeom prst="ellipse">
            <a:avLst/>
          </a:prstGeom>
          <a:solidFill>
            <a:srgbClr val="9E425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1E4270"/>
          </a:solidFill>
          <a:ln w="9525">
            <a:solidFill>
              <a:srgbClr val="1E42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26.09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 зафиксирована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представление, 3 минуты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4146" y="1828800"/>
            <a:ext cx="164592" cy="164592"/>
          </a:xfrm>
          <a:prstGeom prst="ellipse">
            <a:avLst/>
          </a:prstGeom>
          <a:solidFill>
            <a:srgbClr val="005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4036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83764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24.10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683764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собран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665476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WBS, график Ганта,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и реестр рисков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25262" y="1828800"/>
            <a:ext cx="164592" cy="164592"/>
          </a:xfrm>
          <a:prstGeom prst="ellipse">
            <a:avLst/>
          </a:prstGeom>
          <a:solidFill>
            <a:srgbClr val="005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5152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Чекпоинт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736592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Промежуточный результат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сверка «план против факта»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96378" y="1828800"/>
            <a:ext cx="164592" cy="164592"/>
          </a:xfrm>
          <a:prstGeom prst="ellipse">
            <a:avLst/>
          </a:prstGeom>
          <a:solidFill>
            <a:srgbClr val="005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16268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25996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26.12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25996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Питч-защита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807708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Готовый результат,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и защита перед комиссией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1627632"/>
            <a:ext cx="19248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вы здесь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977640"/>
            <a:ext cx="8138160" cy="530352"/>
          </a:xfrm>
          <a:prstGeom prst="roundRect">
            <a:avLst>
              <a:gd name="adj" fmla="val 862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4059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Зачётные тесты:  10.10 — тест 1 «Инициация»   ·   28.11 — тест 2 «Планирование и контроль»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УЖЕ ЭТО ПРОШЛИ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вы делали — и как это называется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вы делали на прошлой паре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это называется в управлении проектами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Принесли два концепта, А и 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Генерация альтернатив — дивергентный шаг инициации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Заполнили формулу «для кого / что / выгода / в отличие»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Ценностное предложение (value proposition)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Оценили оба по четырём критериям и выбрали один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Предварительный отбор — скрининг альтернатив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Развернули цель по пяти буквам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Постановка цели по SMART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Отдали лист соседней команде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Внешняя экспертиза формулировки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2062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прошли фазу инициации не в теории, а руками. Сегодня мы называем то, что вы делали, и смотрим, где это ломается.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ВЫ СЕЙЧАС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Фаза инициации: восемь шагов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8138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94360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Статус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Выявление проблемы или возможности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сделано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Генерация альтернатив — минимум две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сделано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Предварительная оценка и отбор по критериям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сделано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Формулировка ценностного предложения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сделано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Постановка цели по SMART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сделано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Определение стейкхолдеров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Паспорт (устав) проекта — всё выше в одном документе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сегодня, вторая половина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Решение go / no-go — точка фиксации темы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Шаг 8 — не формальность. После него тема проекта не меняется.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МЕХАНИЗМ 1 · ГЕНЕРАЦИЯ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берутся идеи: четыре источника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155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972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Личное наблюдение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0972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сам с этим столкнулся». Самый надёжный источник: вы знаете контекст и можете проверить догадку на себе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8288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Чужая жалоба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81051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Услышали от других. Надёжно, если это не единичный случай — проверяется вопросом «а у кого ещё так?»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5420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5237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в поиске применения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52374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прибор, метод, библиотека — ищем, где пригодится. Типично для кафедры и самый опасный источник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552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369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Внешний запрос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323697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Научный руководитель, предприятие, конкурс, «Обучение служением». Проблема уже сформулирована не вами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8138160" cy="749808"/>
          </a:xfrm>
          <a:prstGeom prst="roundRect">
            <a:avLst>
              <a:gd name="adj" fmla="val 6098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605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Ловушка: решение в поиске проблемы. Признак — вы не можете назвать никого, кроме себя, кому результат нужен.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МЕХАНИЗМ 2 · ОТБОР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было ДВА концепта, а не один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Расширить поле, потом сузить по правилам. Два движения, и они не переставляются местами.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959352" cy="13716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Дивергенция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28800"/>
            <a:ext cx="3447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вектора — принудительное расширение поля. Требование «принесите два» существует ровно для этого.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81728" y="1371600"/>
            <a:ext cx="3959352" cy="13716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Конвергенция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828800"/>
            <a:ext cx="3447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критерия и шкала 0–2 — сужение по правилу, а не по симпатии. Выбор можно объяснить другому человеку.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8803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одного концепта мало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Не с чем сравнивать — любой критерий даёт «ну, нормально»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Привязанность к первой идее: её начинают защищать вместо того, чтобы проверять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Нечего предъявить как запасной вариант, если проект упрётся в ноябре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2519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Проигравший концепт не выбрасывается: он идёт в паспорт как альтернатива.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СМЕЖНАЯ ПРОБЛЕМА · ЗРЕЛОСТЬ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— ещё не проект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Стадия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известно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 оформляется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Сырая идея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Есть предмет или намерение. Ни адресата, ни числа, ни границы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Одна фраза — та, с которой вы пришли 12.09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Проверенная проблема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Известно, у кого болит, как часто и как эту задачу решают сейчас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Ценностное предложение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Определённый результат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Известно, что будет предъявлено, чем измерено и к какой дате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SMART-цель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4348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7307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созрела до проекта, когда вы можете назвать четыре вещи: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04164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человека, который не вы, и которому это нужно  ·  число  ·  дату  ·  и то, чего вы делать НЕ будете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предложение: зачем оно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Определение. Короткое проверяемое утверждение о том, какую конкретную выгоду и для какой конкретной группы людей создаёт результат проекта и чем этот способ лучше того, которым задача решается сейчас.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099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69164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Отсекает идеи без адресата до того, как на них потрачен семестр. Дешевле ошибиться здесь, чем в ноябре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597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команды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41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четверо начинают понимать одно и то же. Расхождения всплывают сейчас, а не за неделю до защиты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2095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912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Аргумент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19125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первый абзац грантовой заявки и первый слайд питч-защиты. Комиссия слушает именно его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8138160" cy="777240"/>
          </a:xfrm>
          <a:prstGeom prst="roundRect">
            <a:avLst>
              <a:gd name="adj" fmla="val 588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965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 отвечает «почему этот проект стоит делать». SMART отвечает «что именно будет сделано». Порядок не переставляется.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ДЕЛАТЬ ПРАВИЛЬНО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шага и три проверки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87552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шагов важен: выгода не формулируется, пока не названы адресат и текущий способ.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8138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4980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сделать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носителя проблемы так, чтобы его можно было найти и спросить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Описать, как он решает задачу сейчас, и в чём измеряется потеря от этого способа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результат предметом, а не намерением: что появится на столе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выгоду изменением, которое видно со стороны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63240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583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Проверка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применять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Подстановочная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Подставьте в своё предложение чужой проект. Подставился без правок — предложение пустое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«Кроме вас»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Назовите человека вне команды, кому результат нужен. Не можете — возвращайтесь к шагу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Альтернативы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Написано «аналогов нет» — значит, не искали. Назовите хотя бы один текущий способ, пусть плохой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· ЦЕННОСТНОЕ ПРЕДЛОЖЕНИЕ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чаще всего оказалось не так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написано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не так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чинить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«Для студентов», «для людей»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Группа не сужена — адресат не найден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курс, ситуацию и момент, когда проблема возникает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«Станет удобнее», «эффективнее»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 без признака — проверить нечем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Сказать, что именно перестанет происходить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«Аналогов нет»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Текущий способ не искали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хотя бы один — «делают на глаз», «пишут в чате»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Заказчик — мы сами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Внешнего адресата нет, проект замкнут на команду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Найти носителя проблемы вне четвёрки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Описана технология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Перепутаны «что делаем» и «выгода»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Технология — в строку 2, польза человеку — в строку 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041648"/>
            <a:ext cx="8138160" cy="658368"/>
          </a:xfrm>
          <a:prstGeom prst="roundRect">
            <a:avLst>
              <a:gd name="adj" fmla="val 694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18795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Возьмите лист 1. Найдите у себя хотя бы одну из этих пяти. Руку поднимать не надо — три минуты.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SMART: зачем он вообще нужен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155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972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внутри команды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0972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«Сделать хорошо» каждый из четверых понимает по-своему. Число понимается одинаково, и спорить о нём можно сейчас, а не в декабре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920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019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 приёмки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0195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этой формулировке вас будут оценивать на защите 26 декабря. Вы сами пишете, по чему вас проверят — такая возможность бывает редко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7249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706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Основание плана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70662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цели выводится структура работ, из неё — график и смета. Без измеримой цели декомпозировать нечего, а этим мы займёмся в октябре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8138160" cy="914400"/>
          </a:xfrm>
          <a:prstGeom prst="roundRect">
            <a:avLst>
              <a:gd name="adj" fmla="val 5000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319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с вводной лекцией: S задаёт содержание (Scope), T задаёт время (Time), A ограничивает ресурс.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— это железный треугольник, записанный одной фразой.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ПРИМЕНЯТЬ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цели — путают постоянно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Уровень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Отвечает на вопрос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Пример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 продукта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изменится у пользователя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Растение не гибнет от неправильного полива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 проекта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команда предъявит и к какой дате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Прототип с точностью ±10 %, испытан 3 недели, к 26.12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Задача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Какой шаг внутри проекта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Закупить датчик · написать прошивку · собрать корпус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46120"/>
            <a:ext cx="8138160" cy="731520"/>
          </a:xfrm>
          <a:prstGeom prst="roundRect">
            <a:avLst>
              <a:gd name="adj" fmla="val 625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401568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пишется на среднем уровне — на цель проекта. Не на пользу пользователю и не на отдельный шаг.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694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1879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процесс: если формулировку можно выполнить и при этом нечего предъявить — это задача, а не цель. «Изучить литературу», «провести эксперименты» — процесс.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· SMART-ЦЕЛЬ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чаще всего оказалось не так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81381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749040"/>
                <a:gridCol w="3657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Ошибка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чинить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«Работает стабильно», «достаточно точно» — числа нет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величину, единицы и то, чем измеряете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«К концу семестра», «в течение осени»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Две даты: 21.11 — промежуточный результат, 26.12 — итог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Нужен прибор или навык, которого нет ни у кого в команде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Список того, что физически нужно, и где вы это берёте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 про одно, ценностное предложение про другое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Показать, какую строку предложения цель закрывает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 описывает процесс, а не результат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Переписать как предмет: что стоит на столе в декабре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Целей несколько сразу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Одна цель на проект. Остальное — задачи внутри неё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069080"/>
            <a:ext cx="8138160" cy="640080"/>
          </a:xfrm>
          <a:prstGeom prst="roundRect">
            <a:avLst>
              <a:gd name="adj" fmla="val 714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20624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перед вами. Две минуты: найдите свою строку в этой таблице.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СМЕЖНЫЕ ПРОБЛЕМЫ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 и привязанность к идее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8138160" cy="160020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481328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Слишком крупный — до декабря не будет ничего предъявимого. Проверка: есть ли промежуточный результат к 21.11, который можно показать отдельно.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Слишком мелкий — тоже провал: если всё делается за две недели, на защите нечего обсуждать. Проект должен занимать 13 недель при вашей загрузке в 5–6 дисциплин.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1600200"/>
          </a:xfrm>
          <a:prstGeom prst="roundRect">
            <a:avLst>
              <a:gd name="adj" fmla="val 2857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Привязанность к идее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18688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дольше вы живёте с идеей, тем дороже её менять — и дорожает не работа, а решение. Через месяц вы будете защищать идею вместо того, чтобы её проверять.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решение о замене принимается сейчас, когда вложено две недели, а не в ноябре, когда вложен семестр.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ВАЖНО · СКАЖУ ОДИН РАЗ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772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Поменять проект ещё можно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8138160" cy="1143000"/>
          </a:xfrm>
          <a:prstGeom prst="roundRect">
            <a:avLst>
              <a:gd name="adj" fmla="val 4000"/>
            </a:avLst>
          </a:prstGeom>
          <a:solidFill>
            <a:srgbClr val="2C567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26 сентября включительно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поменять концепт целиком, вернуться к проигравшему вектору или взять третью идею. Без объяснений и без последствий для оценки.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1143000"/>
          </a:xfrm>
          <a:prstGeom prst="roundRect">
            <a:avLst>
              <a:gd name="adj" fmla="val 4000"/>
            </a:avLst>
          </a:prstGeom>
          <a:solidFill>
            <a:srgbClr val="7A3244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9718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26 сентября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0DD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 подписан, тема зафиксирована — это и есть шаг 8, решение go / no-go. Дальше уточняются формулировки внутри темы, но не тема. Смена темы в ноябре означает потерю семестра.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Сомневаетесь — меняйте сейчас. Сомнение в сентябре нормально; сомнение в ноябре стоит защиты.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ДОМАШНЕЕ ЗАДАНИЕ К 26.09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Представление проекта: 3 минуты стоя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81381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4066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Сек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 чём говорите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 вы: состав команды и роли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Ценностное предложение целиком, одной фразой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SMART-цель одной фразой, с обеими датами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будет предъявлено к 21.11 и что к 26.12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Чего вы делать НЕ будете — границы проекта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у вас пока не сходится и какой вопрос остаётся открытым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657600"/>
            <a:ext cx="8138160" cy="1051560"/>
          </a:xfrm>
          <a:prstGeom prst="roundRect">
            <a:avLst>
              <a:gd name="adj" fmla="val 4348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3785616"/>
            <a:ext cx="7626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 на бумаге исправленные лист 1 и лист 2.   ·   Слайды не нужны.   ·   Аудитория задаёт по два вопроса каждой команде — это часть работы, а не вежливость.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4279392"/>
            <a:ext cx="7626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Оценивается не красота идеи, а связность: цель следует из предложения, результат следует из цели.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— Инициация проекта: разбор практики 1</dc:title>
  <dc:subject>PptxGenJS Presentation</dc:subject>
  <dc:creator>PptxGenJS</dc:creator>
  <cp:lastModifiedBy>PptxGenJS</cp:lastModifiedBy>
  <cp:revision>1</cp:revision>
  <dcterms:created xsi:type="dcterms:W3CDTF">2026-09-18T19:39:16Z</dcterms:created>
  <dcterms:modified xsi:type="dcterms:W3CDTF">2026-09-18T19:39:16Z</dcterms:modified>
</cp:coreProperties>
</file>